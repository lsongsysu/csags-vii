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30240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438"/>
    <a:srgbClr val="00682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86A1-B449-46F0-A3BF-47B1E9914FB0}" v="38" dt="2024-11-18T04:59:26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8" d="100"/>
          <a:sy n="18" d="100"/>
        </p:scale>
        <p:origin x="1704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70108"/>
            <a:ext cx="25704245" cy="15040222"/>
          </a:xfrm>
        </p:spPr>
        <p:txBody>
          <a:bodyPr anchor="b"/>
          <a:lstStyle>
            <a:lvl1pPr algn="ctr">
              <a:defRPr sz="198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690338"/>
            <a:ext cx="22680216" cy="10430151"/>
          </a:xfrm>
        </p:spPr>
        <p:txBody>
          <a:bodyPr/>
          <a:lstStyle>
            <a:lvl1pPr marL="0" indent="0" algn="ctr">
              <a:buNone/>
              <a:defRPr sz="7937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59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2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770172"/>
            <a:ext cx="26082248" cy="17970262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910440"/>
            <a:ext cx="26082248" cy="9450136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1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500170"/>
            <a:ext cx="12852122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500170"/>
            <a:ext cx="12852122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148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300044"/>
            <a:ext cx="26082248" cy="8350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590160"/>
            <a:ext cx="12793057" cy="5190073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780233"/>
            <a:ext cx="12793057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590160"/>
            <a:ext cx="12856061" cy="5190073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780233"/>
            <a:ext cx="12856061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154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56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94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80042"/>
            <a:ext cx="9753280" cy="10080149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220102"/>
            <a:ext cx="15309146" cy="30700453"/>
          </a:xfrm>
        </p:spPr>
        <p:txBody>
          <a:bodyPr/>
          <a:lstStyle>
            <a:lvl1pPr>
              <a:defRPr sz="10583"/>
            </a:lvl1pPr>
            <a:lvl2pPr>
              <a:defRPr sz="9260"/>
            </a:lvl2pPr>
            <a:lvl3pPr>
              <a:defRPr sz="7937"/>
            </a:lvl3pPr>
            <a:lvl4pPr>
              <a:defRPr sz="6614"/>
            </a:lvl4pPr>
            <a:lvl5pPr>
              <a:defRPr sz="6614"/>
            </a:lvl5pPr>
            <a:lvl6pPr>
              <a:defRPr sz="6614"/>
            </a:lvl6pPr>
            <a:lvl7pPr>
              <a:defRPr sz="6614"/>
            </a:lvl7pPr>
            <a:lvl8pPr>
              <a:defRPr sz="6614"/>
            </a:lvl8pPr>
            <a:lvl9pPr>
              <a:defRPr sz="661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960191"/>
            <a:ext cx="9753280" cy="24010358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31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80042"/>
            <a:ext cx="9753280" cy="10080149"/>
          </a:xfrm>
        </p:spPr>
        <p:txBody>
          <a:bodyPr anchor="b"/>
          <a:lstStyle>
            <a:lvl1pPr>
              <a:defRPr sz="1058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220102"/>
            <a:ext cx="15309146" cy="30700453"/>
          </a:xfrm>
        </p:spPr>
        <p:txBody>
          <a:bodyPr anchor="t"/>
          <a:lstStyle>
            <a:lvl1pPr marL="0" indent="0">
              <a:buNone/>
              <a:defRPr sz="10583"/>
            </a:lvl1pPr>
            <a:lvl2pPr marL="1512006" indent="0">
              <a:buNone/>
              <a:defRPr sz="9260"/>
            </a:lvl2pPr>
            <a:lvl3pPr marL="3024012" indent="0">
              <a:buNone/>
              <a:defRPr sz="7937"/>
            </a:lvl3pPr>
            <a:lvl4pPr marL="4536018" indent="0">
              <a:buNone/>
              <a:defRPr sz="6614"/>
            </a:lvl4pPr>
            <a:lvl5pPr marL="6048024" indent="0">
              <a:buNone/>
              <a:defRPr sz="6614"/>
            </a:lvl5pPr>
            <a:lvl6pPr marL="7560031" indent="0">
              <a:buNone/>
              <a:defRPr sz="6614"/>
            </a:lvl6pPr>
            <a:lvl7pPr marL="9072037" indent="0">
              <a:buNone/>
              <a:defRPr sz="6614"/>
            </a:lvl7pPr>
            <a:lvl8pPr marL="10584043" indent="0">
              <a:buNone/>
              <a:defRPr sz="6614"/>
            </a:lvl8pPr>
            <a:lvl9pPr marL="12096049" indent="0">
              <a:buNone/>
              <a:defRPr sz="661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960191"/>
            <a:ext cx="9753280" cy="24010358"/>
          </a:xfrm>
        </p:spPr>
        <p:txBody>
          <a:bodyPr/>
          <a:lstStyle>
            <a:lvl1pPr marL="0" indent="0">
              <a:buNone/>
              <a:defRPr sz="5291"/>
            </a:lvl1pPr>
            <a:lvl2pPr marL="1512006" indent="0">
              <a:buNone/>
              <a:defRPr sz="4630"/>
            </a:lvl2pPr>
            <a:lvl3pPr marL="3024012" indent="0">
              <a:buNone/>
              <a:defRPr sz="3969"/>
            </a:lvl3pPr>
            <a:lvl4pPr marL="4536018" indent="0">
              <a:buNone/>
              <a:defRPr sz="3307"/>
            </a:lvl4pPr>
            <a:lvl5pPr marL="6048024" indent="0">
              <a:buNone/>
              <a:defRPr sz="3307"/>
            </a:lvl5pPr>
            <a:lvl6pPr marL="7560031" indent="0">
              <a:buNone/>
              <a:defRPr sz="3307"/>
            </a:lvl6pPr>
            <a:lvl7pPr marL="9072037" indent="0">
              <a:buNone/>
              <a:defRPr sz="3307"/>
            </a:lvl7pPr>
            <a:lvl8pPr marL="10584043" indent="0">
              <a:buNone/>
              <a:defRPr sz="3307"/>
            </a:lvl8pPr>
            <a:lvl9pPr marL="12096049" indent="0">
              <a:buNone/>
              <a:defRPr sz="330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68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55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300034"/>
            <a:ext cx="6520562" cy="366105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300034"/>
            <a:ext cx="19183683" cy="366105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34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300044"/>
            <a:ext cx="26082248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500170"/>
            <a:ext cx="26082248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40040601"/>
            <a:ext cx="6804065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CA6AC-872B-4F25-8270-D3EC380F0BA6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40040601"/>
            <a:ext cx="10206097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40040601"/>
            <a:ext cx="6804065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68ED0-B4E2-4AA0-A391-DB12AD8201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36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4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+mn-lt"/>
          <a:ea typeface="+mn-ea"/>
          <a:cs typeface="+mn-cs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16EEF-B935-5D5B-11A9-A7A585D0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C6EFDCB-689E-C142-0D1D-F57E734ECA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776" y="-10218"/>
            <a:ext cx="30449704" cy="4321085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69CAF87-6C6D-B068-AD08-10EE18AD5181}"/>
              </a:ext>
            </a:extLst>
          </p:cNvPr>
          <p:cNvSpPr/>
          <p:nvPr/>
        </p:nvSpPr>
        <p:spPr>
          <a:xfrm>
            <a:off x="64144" y="0"/>
            <a:ext cx="30240288" cy="43542856"/>
          </a:xfrm>
          <a:prstGeom prst="rect">
            <a:avLst/>
          </a:prstGeom>
          <a:gradFill>
            <a:gsLst>
              <a:gs pos="0">
                <a:srgbClr val="1A7438">
                  <a:alpha val="70000"/>
                </a:srgbClr>
              </a:gs>
              <a:gs pos="38000">
                <a:srgbClr val="006825">
                  <a:alpha val="80000"/>
                </a:srgbClr>
              </a:gs>
              <a:gs pos="75000">
                <a:srgbClr val="1A7438">
                  <a:alpha val="85000"/>
                </a:srgbClr>
              </a:gs>
              <a:gs pos="100000">
                <a:srgbClr val="006825">
                  <a:alpha val="80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2EBFB87-90A7-ABEE-8765-468896DB2E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104708" y="39362744"/>
            <a:ext cx="30449704" cy="3999810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3A838A8A-B082-E735-40ED-14065E778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69440" y="1378793"/>
            <a:ext cx="8050951" cy="20574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5607D07-1C0A-13E8-751B-35EB2916B09A}"/>
              </a:ext>
            </a:extLst>
          </p:cNvPr>
          <p:cNvSpPr txBox="1"/>
          <p:nvPr/>
        </p:nvSpPr>
        <p:spPr>
          <a:xfrm>
            <a:off x="3626466" y="5829930"/>
            <a:ext cx="238614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0" b="1" dirty="0">
                <a:solidFill>
                  <a:schemeClr val="bg1"/>
                </a:solidFill>
              </a:rPr>
              <a:t>China Southeastern Algebraic Geometry Symposium VII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1BB637-BFC1-7DC1-B9F5-E34AF780B5D3}"/>
              </a:ext>
            </a:extLst>
          </p:cNvPr>
          <p:cNvSpPr txBox="1"/>
          <p:nvPr/>
        </p:nvSpPr>
        <p:spPr>
          <a:xfrm>
            <a:off x="7654180" y="9374655"/>
            <a:ext cx="15806057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第七届东南代数几何研讨会</a:t>
            </a:r>
            <a:endParaRPr kumimoji="0" lang="en-US" altLang="zh-CN" sz="83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49DCA2-103E-5B20-DFC9-6F3DCD3D74AF}"/>
              </a:ext>
            </a:extLst>
          </p:cNvPr>
          <p:cNvSpPr txBox="1"/>
          <p:nvPr/>
        </p:nvSpPr>
        <p:spPr>
          <a:xfrm>
            <a:off x="5130215" y="31345576"/>
            <a:ext cx="2010814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0" dirty="0">
                <a:solidFill>
                  <a:schemeClr val="bg1"/>
                </a:solidFill>
              </a:rPr>
              <a:t>No. 135 Xingang Xi Road</a:t>
            </a:r>
          </a:p>
          <a:p>
            <a:r>
              <a:rPr lang="en-US" altLang="zh-CN" sz="7000" dirty="0" err="1">
                <a:solidFill>
                  <a:schemeClr val="bg1"/>
                </a:solidFill>
              </a:rPr>
              <a:t>Bldg</a:t>
            </a:r>
            <a:r>
              <a:rPr lang="en-US" altLang="zh-CN" sz="7000" dirty="0">
                <a:solidFill>
                  <a:schemeClr val="bg1"/>
                </a:solidFill>
              </a:rPr>
              <a:t> 266 Room 415</a:t>
            </a:r>
          </a:p>
          <a:p>
            <a:r>
              <a:rPr lang="en-US" altLang="zh-CN" sz="7000" dirty="0" err="1">
                <a:solidFill>
                  <a:schemeClr val="bg1"/>
                </a:solidFill>
              </a:rPr>
              <a:t>Haizhu</a:t>
            </a:r>
            <a:r>
              <a:rPr lang="en-US" altLang="zh-CN" sz="7000" dirty="0">
                <a:solidFill>
                  <a:schemeClr val="bg1"/>
                </a:solidFill>
              </a:rPr>
              <a:t> District</a:t>
            </a:r>
          </a:p>
          <a:p>
            <a:r>
              <a:rPr lang="en-US" altLang="zh-CN" sz="7000" dirty="0">
                <a:solidFill>
                  <a:schemeClr val="bg1"/>
                </a:solidFill>
              </a:rPr>
              <a:t>Guangzhou, Guangdong 510275</a:t>
            </a:r>
            <a:endParaRPr lang="zh-CN" altLang="en-US" sz="7000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D38F28-E1CD-FD37-E627-EF776D0A6D5E}"/>
              </a:ext>
            </a:extLst>
          </p:cNvPr>
          <p:cNvSpPr txBox="1"/>
          <p:nvPr/>
        </p:nvSpPr>
        <p:spPr>
          <a:xfrm>
            <a:off x="7724929" y="11905529"/>
            <a:ext cx="158060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000" dirty="0">
                <a:solidFill>
                  <a:schemeClr val="bg1"/>
                </a:solidFill>
              </a:rPr>
              <a:t>December 7 - December 8, 2024</a:t>
            </a:r>
            <a:endParaRPr lang="zh-CN" altLang="en-US" sz="7000" dirty="0">
              <a:solidFill>
                <a:schemeClr val="bg1"/>
              </a:solidFill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88674EB-B4FB-A404-8CBB-9AB59CBC2539}"/>
              </a:ext>
            </a:extLst>
          </p:cNvPr>
          <p:cNvCxnSpPr>
            <a:cxnSpLocks/>
          </p:cNvCxnSpPr>
          <p:nvPr/>
        </p:nvCxnSpPr>
        <p:spPr>
          <a:xfrm>
            <a:off x="5894915" y="11408228"/>
            <a:ext cx="19466086" cy="0"/>
          </a:xfrm>
          <a:prstGeom prst="line">
            <a:avLst/>
          </a:prstGeom>
          <a:ln w="28575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0107B-BEBC-8CD5-ED9F-FEF60E8A0C16}"/>
              </a:ext>
            </a:extLst>
          </p:cNvPr>
          <p:cNvSpPr txBox="1"/>
          <p:nvPr/>
        </p:nvSpPr>
        <p:spPr>
          <a:xfrm>
            <a:off x="5091701" y="15728396"/>
            <a:ext cx="19466086" cy="8985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0"/>
              </a:lnSpc>
            </a:pPr>
            <a:r>
              <a:rPr lang="en-US" altLang="zh-CN" sz="7000" dirty="0" err="1">
                <a:solidFill>
                  <a:schemeClr val="bg1"/>
                </a:solidFill>
              </a:rPr>
              <a:t>Junpeng</a:t>
            </a:r>
            <a:r>
              <a:rPr lang="en-US" altLang="zh-CN" sz="7000" dirty="0">
                <a:solidFill>
                  <a:schemeClr val="bg1"/>
                </a:solidFill>
              </a:rPr>
              <a:t> Jiao         Tsinghua University</a:t>
            </a:r>
          </a:p>
          <a:p>
            <a:pPr>
              <a:lnSpc>
                <a:spcPts val="10000"/>
              </a:lnSpc>
            </a:pPr>
            <a:r>
              <a:rPr lang="en-US" altLang="zh-CN" sz="7000" dirty="0">
                <a:solidFill>
                  <a:schemeClr val="bg1"/>
                </a:solidFill>
              </a:rPr>
              <a:t>Vladimir </a:t>
            </a:r>
            <a:r>
              <a:rPr lang="en-US" altLang="zh-CN" sz="7000" dirty="0" err="1">
                <a:solidFill>
                  <a:schemeClr val="bg1"/>
                </a:solidFill>
              </a:rPr>
              <a:t>Lazić</a:t>
            </a:r>
            <a:r>
              <a:rPr lang="en-US" altLang="zh-CN" sz="7000" dirty="0">
                <a:solidFill>
                  <a:schemeClr val="bg1"/>
                </a:solidFill>
              </a:rPr>
              <a:t>       Universität des </a:t>
            </a:r>
            <a:r>
              <a:rPr lang="en-US" altLang="zh-CN" sz="7000" dirty="0" err="1">
                <a:solidFill>
                  <a:schemeClr val="bg1"/>
                </a:solidFill>
              </a:rPr>
              <a:t>Saarlandes</a:t>
            </a:r>
            <a:r>
              <a:rPr lang="en-US" altLang="zh-CN" sz="7000" dirty="0">
                <a:solidFill>
                  <a:schemeClr val="bg1"/>
                </a:solidFill>
              </a:rPr>
              <a:t> </a:t>
            </a:r>
          </a:p>
          <a:p>
            <a:pPr>
              <a:lnSpc>
                <a:spcPts val="10000"/>
              </a:lnSpc>
            </a:pPr>
            <a:r>
              <a:rPr lang="en-US" altLang="zh-CN" sz="7000" dirty="0">
                <a:solidFill>
                  <a:schemeClr val="bg1"/>
                </a:solidFill>
              </a:rPr>
              <a:t>*</a:t>
            </a:r>
            <a:r>
              <a:rPr lang="en-US" altLang="zh-CN" sz="7000" dirty="0" err="1">
                <a:solidFill>
                  <a:schemeClr val="bg1"/>
                </a:solidFill>
              </a:rPr>
              <a:t>Chunyi</a:t>
            </a:r>
            <a:r>
              <a:rPr lang="en-US" altLang="zh-CN" sz="7000" dirty="0">
                <a:solidFill>
                  <a:schemeClr val="bg1"/>
                </a:solidFill>
              </a:rPr>
              <a:t> Li             The University of Warwick</a:t>
            </a:r>
          </a:p>
          <a:p>
            <a:pPr>
              <a:lnSpc>
                <a:spcPts val="10000"/>
              </a:lnSpc>
            </a:pPr>
            <a:r>
              <a:rPr lang="en-US" altLang="zh-CN" sz="7000" dirty="0" err="1">
                <a:solidFill>
                  <a:schemeClr val="bg1"/>
                </a:solidFill>
              </a:rPr>
              <a:t>Wenfei</a:t>
            </a:r>
            <a:r>
              <a:rPr lang="en-US" altLang="zh-CN" sz="7000" dirty="0">
                <a:solidFill>
                  <a:schemeClr val="bg1"/>
                </a:solidFill>
              </a:rPr>
              <a:t> Liu             Xiamen University</a:t>
            </a:r>
          </a:p>
          <a:p>
            <a:pPr>
              <a:lnSpc>
                <a:spcPts val="10000"/>
              </a:lnSpc>
            </a:pPr>
            <a:r>
              <a:rPr lang="en-US" altLang="zh-CN" sz="7000" dirty="0">
                <a:solidFill>
                  <a:schemeClr val="bg1"/>
                </a:solidFill>
              </a:rPr>
              <a:t>*</a:t>
            </a:r>
            <a:r>
              <a:rPr lang="en-US" altLang="zh-CN" sz="7000" dirty="0" err="1">
                <a:solidFill>
                  <a:schemeClr val="bg1"/>
                </a:solidFill>
              </a:rPr>
              <a:t>Zhiyu</a:t>
            </a:r>
            <a:r>
              <a:rPr lang="en-US" altLang="zh-CN" sz="7000" dirty="0">
                <a:solidFill>
                  <a:schemeClr val="bg1"/>
                </a:solidFill>
              </a:rPr>
              <a:t> Liu              Zhejiang University</a:t>
            </a:r>
          </a:p>
          <a:p>
            <a:pPr>
              <a:lnSpc>
                <a:spcPts val="10000"/>
              </a:lnSpc>
            </a:pPr>
            <a:r>
              <a:rPr lang="en-US" altLang="zh-CN" sz="7000" dirty="0">
                <a:solidFill>
                  <a:schemeClr val="bg1"/>
                </a:solidFill>
              </a:rPr>
              <a:t>Sheng Rao             Wuhan University</a:t>
            </a:r>
          </a:p>
          <a:p>
            <a:pPr>
              <a:lnSpc>
                <a:spcPts val="10000"/>
              </a:lnSpc>
            </a:pPr>
            <a:r>
              <a:rPr lang="en-US" altLang="zh-CN" sz="7000" dirty="0">
                <a:solidFill>
                  <a:schemeClr val="bg1"/>
                </a:solidFill>
              </a:rPr>
              <a:t>Hao Sun                 Shanghai Normal University</a:t>
            </a:r>
            <a:endParaRPr lang="zh-CN" altLang="en-US" sz="7000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6167246-A3B6-AE94-0DBF-B1DFFD7CDABA}"/>
              </a:ext>
            </a:extLst>
          </p:cNvPr>
          <p:cNvSpPr txBox="1"/>
          <p:nvPr/>
        </p:nvSpPr>
        <p:spPr>
          <a:xfrm>
            <a:off x="5091701" y="14392709"/>
            <a:ext cx="88736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Invited Speakers: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0F8A63-3C37-709C-8AD0-0DB46FC44AC1}"/>
              </a:ext>
            </a:extLst>
          </p:cNvPr>
          <p:cNvSpPr txBox="1"/>
          <p:nvPr/>
        </p:nvSpPr>
        <p:spPr>
          <a:xfrm>
            <a:off x="5091701" y="27367249"/>
            <a:ext cx="172336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0" dirty="0" err="1">
                <a:solidFill>
                  <a:schemeClr val="bg1"/>
                </a:solidFill>
              </a:rPr>
              <a:t>Jianxun</a:t>
            </a:r>
            <a:r>
              <a:rPr lang="en-US" altLang="zh-CN" sz="7000" dirty="0">
                <a:solidFill>
                  <a:schemeClr val="bg1"/>
                </a:solidFill>
              </a:rPr>
              <a:t> Hu      Changzheng Li      Lei Song</a:t>
            </a:r>
            <a:endParaRPr lang="zh-CN" altLang="en-US" sz="7000" dirty="0">
              <a:solidFill>
                <a:schemeClr val="bg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3B05195-093C-AF58-985B-47B75F25DA00}"/>
              </a:ext>
            </a:extLst>
          </p:cNvPr>
          <p:cNvSpPr txBox="1"/>
          <p:nvPr/>
        </p:nvSpPr>
        <p:spPr>
          <a:xfrm>
            <a:off x="5091701" y="26183747"/>
            <a:ext cx="42468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Organizers: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0A8336B-360E-6741-4122-2467F9151850}"/>
              </a:ext>
            </a:extLst>
          </p:cNvPr>
          <p:cNvSpPr txBox="1"/>
          <p:nvPr/>
        </p:nvSpPr>
        <p:spPr>
          <a:xfrm>
            <a:off x="5130215" y="30022297"/>
            <a:ext cx="2615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7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Venue:</a:t>
            </a:r>
            <a:endParaRPr lang="zh-CN" alt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9B8926B-3258-BF2C-F3C7-B838A8A053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9880" y="31611107"/>
            <a:ext cx="4024605" cy="402460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0C82213-1A30-5927-4028-854FAA08F587}"/>
              </a:ext>
            </a:extLst>
          </p:cNvPr>
          <p:cNvSpPr txBox="1"/>
          <p:nvPr/>
        </p:nvSpPr>
        <p:spPr>
          <a:xfrm>
            <a:off x="20325048" y="29944256"/>
            <a:ext cx="76848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</a:rPr>
              <a:t>Registration QR Code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FDE860-EA86-9049-14D4-E5D39538AD49}"/>
              </a:ext>
            </a:extLst>
          </p:cNvPr>
          <p:cNvSpPr txBox="1"/>
          <p:nvPr/>
        </p:nvSpPr>
        <p:spPr>
          <a:xfrm>
            <a:off x="5091701" y="36355045"/>
            <a:ext cx="72180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</a:rPr>
              <a:t>* minicourse</a:t>
            </a:r>
            <a:endParaRPr lang="zh-CN" alt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68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195</TotalTime>
  <Words>86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Huanqi Wen</dc:creator>
  <cp:lastModifiedBy>Runjian Huang</cp:lastModifiedBy>
  <cp:revision>2</cp:revision>
  <dcterms:created xsi:type="dcterms:W3CDTF">2024-11-16T15:31:43Z</dcterms:created>
  <dcterms:modified xsi:type="dcterms:W3CDTF">2026-03-24T07:30:06Z</dcterms:modified>
</cp:coreProperties>
</file>